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B est identifiée sans ambiguïté : c'est la β-lactamase TEM-1 d'E. coli (UniProt P62593). Annoncer le verdict d'emblée, puis dérouler la démarche : BLAST, annotation, MSA, arbre, portée clinique.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BLAST : E-value 0.0, identité ~100 %, couverture 100 %. Insister sur le fait que les hits viennent de genres TRÈS différents → gène mobile, conservé. Mentionner les deux pièges de lecture (constructions de labo + artefact Eimeria) pour montrer l'esprit critique.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Protéine de 286 aa (~31,5 kDa), exportée au périplasme, repli classe A. Le cœur catalytique : Ser70 nucléophile (motif S-x-x-K), boucle SDN, Glu166, triade K-[S/T]-G. Article-clé : Sutcliffe 1978 — séquence de référence portée par pBR322, vecteur fondateur dont le marqueur ampi EST ce gène.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MSA des 5 homologues (MAFFT). 48 colonnes totalement conservées, concentrées sur le site actif : Ser70/Lys73 (S-x-x-K), boucle SDN, triade K-[S/T]-G — toutes invariantes. La variabilité est sur les boucles de surface. C'est la signature « classe A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 arbre FastTree, raciné sur l'outgroup BlaZ. Points clés : SHV-1/SHV-2 à un résidu d'écart (mutation → ESBL) ; CTX-M-15 diverge plus tôt ; BlaZ enracine. Insister sur le piège « arbre non-raciné » : le regroupement apparent CTX-M/BlaZ était un artefact d'affichage corrigé par l'enracinement.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Portée clinique : TEM-1 = la β-lactamase plasmidique la plus répandue chez les Gram négatifs. Son danger = son évolvabilité : quelques mutations → ESBL ou résistance aux inhibiteurs. Le pas SHV-1→SHV-2 (un seul résidu) vu dans notre arbre illustre exactement ça. Enjeu majeur d'antibiorésistance.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Galaxy reproductible : Input → blastp → MAFFT → FastTree → Newick Display. Exporté en .ga, commité sur GitHub avec tous les fichiers. C'est la partie « reproductibilité » du sujet.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: sequence B = TEM-1. Quatre take-homes — identité, conservation, évolution vers les ESBL, pertinence en antibiorésistance. Terminer sur l'enjeu de santé publique. Ouvrir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12424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1033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5486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MINOR · 2025–2026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" y="1463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Bioinformatic Detective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&amp; characterising unknown protein — “sequence B”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3703320"/>
            <a:ext cx="7955280" cy="1143000"/>
          </a:xfrm>
          <a:prstGeom prst="roundRect">
            <a:avLst>
              <a:gd name="adj" fmla="val 7200"/>
            </a:avLst>
          </a:prstGeom>
          <a:solidFill>
            <a:srgbClr val="12424E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  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TEM-1 β-lactamase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43434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P62593  ·  gene blaTEM-1  ·  Escherichia coli  ·  EC 3.5.2.6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residues · 31.5 kDa · class A serine β-lactamase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3291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11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similarity search (BLAST)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48640" y="1325880"/>
            <a:ext cx="2011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1463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54864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88920" y="1325880"/>
            <a:ext cx="2011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788920" y="1463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278892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E-value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29200" y="1325880"/>
            <a:ext cx="2011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0" y="1463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502920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coverage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2971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hits (NCBI ClusteredNR, BLASTp)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329184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protein across many different genera — </a:t>
            </a:r>
            <a:pPr indent="0" marL="0">
              <a:buNone/>
            </a:pPr>
            <a:r>
              <a:rPr lang="en-US" sz="1450" i="1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Acinetobacter, Klebsiella, Escherichia, Morganella, Providencia, Enterobacter</a:t>
            </a:r>
            <a:pPr indent="0" marL="0"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several hits span dozens–hundreds of organisms at once.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995160" y="1325880"/>
            <a:ext cx="4709160" cy="2880360"/>
          </a:xfrm>
          <a:prstGeom prst="roundRect">
            <a:avLst>
              <a:gd name="adj" fmla="val 2857"/>
            </a:avLst>
          </a:prstGeom>
          <a:solidFill>
            <a:srgbClr val="ECF6F5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269480" y="1481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269480" y="1874520"/>
            <a:ext cx="4160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mobile, highly conserved gene. 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Plasmid/Tn3-borne, spread by horizontal transfer and kept near-invariant by β-lactam selective pressure.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variants among hits (TEM-21, -88, -166, -232) trace the TEM-1 → ESBL radiation.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48640" y="45262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reading:  </a:t>
            </a:r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ClusteredNR hits include lab constructs (vector pCVD004, fusion proteins) since blaTEM is the standard selection marker; one hit annotated to </a:t>
            </a:r>
            <a:pPr indent="0" marL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Eimeria maxima</a:t>
            </a:r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database-contamination artifact.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BLASTp vs ClusteredNR · RID 3V2SK3ZD014 · query 286 aa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3291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11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 &amp; protein annotation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48640" y="1371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1490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 aa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48640" y="1975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(precursor)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88920" y="1371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788920" y="1490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31.5 kDa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2788920" y="1975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weight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0" y="1371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0" y="1490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~5.7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5029200" y="1975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isoelectric point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260604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48640" y="27249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Periplasm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54864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788920" y="260604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2788920" y="27249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 3.5.2.6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278892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class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29200" y="260604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029200" y="27249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A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502920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β-lactamase fold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995160" y="1371600"/>
            <a:ext cx="4709160" cy="4069080"/>
          </a:xfrm>
          <a:prstGeom prst="roundRect">
            <a:avLst>
              <a:gd name="adj" fmla="val 2022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26948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Catalytic machinery (Ambler)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269480" y="2057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Ser70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7269480" y="23317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nucleophile (S-x-x-K) — attacks the β-lactam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269480" y="27340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Lys73</a:t>
            </a:r>
            <a:endParaRPr lang="en-US" sz="1450" dirty="0"/>
          </a:p>
        </p:txBody>
      </p:sp>
      <p:sp>
        <p:nvSpPr>
          <p:cNvPr id="29" name="Text 25"/>
          <p:cNvSpPr/>
          <p:nvPr/>
        </p:nvSpPr>
        <p:spPr>
          <a:xfrm>
            <a:off x="7269480" y="300837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base partner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269480" y="34107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Ser130–Asp131–Asn132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7269480" y="36850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loop — substrate positioning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26948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Glu166</a:t>
            </a:r>
            <a:endParaRPr lang="en-US" sz="1450" dirty="0"/>
          </a:p>
        </p:txBody>
      </p:sp>
      <p:sp>
        <p:nvSpPr>
          <p:cNvPr id="33" name="Text 29"/>
          <p:cNvSpPr/>
          <p:nvPr/>
        </p:nvSpPr>
        <p:spPr>
          <a:xfrm>
            <a:off x="7269480" y="43616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Ω-loop — activates deacylating water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269480" y="47640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Lys234–[S/T]–Gly236</a:t>
            </a:r>
            <a:endParaRPr lang="en-US" sz="1450" dirty="0"/>
          </a:p>
        </p:txBody>
      </p:sp>
      <p:sp>
        <p:nvSpPr>
          <p:cNvPr id="35" name="Text 31"/>
          <p:cNvSpPr/>
          <p:nvPr/>
        </p:nvSpPr>
        <p:spPr>
          <a:xfrm>
            <a:off x="7269480" y="50383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K-[S/T]-G triad — oxyanion pocket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48640" y="4069080"/>
            <a:ext cx="6263640" cy="1371600"/>
          </a:xfrm>
          <a:prstGeom prst="roundRect">
            <a:avLst>
              <a:gd name="adj" fmla="val 6000"/>
            </a:avLst>
          </a:prstGeom>
          <a:solidFill>
            <a:srgbClr val="ECF6F5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777240" y="4206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paper  </a:t>
            </a:r>
            <a:pPr indent="0" marL="0">
              <a:buNone/>
            </a:pPr>
            <a:r>
              <a:rPr lang="en-US" sz="1400" i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Sutcliffe (1978), PNAS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777240" y="4553712"/>
            <a:ext cx="5806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reference blaTEM-1 sequence within plasmid pBR322 — whose ampicillin-resistance marker IS this gene. Thousands of studies on blaTEM in PubMed.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3291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11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sequence alignment — conserved core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653796" y="1325880"/>
            <a:ext cx="10881360" cy="3528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pic>
        <p:nvPicPr>
          <p:cNvPr id="7" name="Image 2" descr="msa_motif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463040"/>
            <a:ext cx="10607040" cy="3253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5219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columns fully conserved</a:t>
            </a:r>
            <a:pPr algn="ctr" indent="0" marL="0">
              <a:buNone/>
            </a:pPr>
            <a:r>
              <a:rPr lang="en-US" sz="15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five enzymes — the catalytic residues (boxed) are invariant. Variation is confined to surface loops &amp; the signal peptide: a conserved-core / variable-surface signature of an ancient, essential scaffold.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3291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11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Phylogenetic tree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02920" y="1417320"/>
            <a:ext cx="6400800" cy="3288704"/>
          </a:xfrm>
          <a:prstGeom prst="roundRect">
            <a:avLst>
              <a:gd name="adj" fmla="val 25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pic>
        <p:nvPicPr>
          <p:cNvPr id="7" name="Image 2" descr="tree_roo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126480" cy="30143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486147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FastTree / MAFFT run, rooted on the BlaZ outgroup</a:t>
            </a:r>
            <a:endParaRPr lang="en-US" sz="11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536192"/>
            <a:ext cx="292608" cy="29260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52360" y="15087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SHV-1 ≈ SHV-2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7452360" y="1819656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residue apart (G→S) — one mutation turns a narrow-spectrum enzyme into an ESBL</a:t>
            </a:r>
            <a:endParaRPr lang="en-US" sz="12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596896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52360" y="25694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CTX-M-15 diverges earlier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7452360" y="288036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origin (mobilised from Kluyvera); supports 0.99–1.00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3657600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452360" y="36301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 roots the tree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7452360" y="394106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Gram-positive outgroup separates cleanly from Enterobacterales</a:t>
            </a:r>
            <a:endParaRPr lang="en-US" sz="12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4718304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452360" y="46908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Unrooted → rooted</a:t>
            </a:r>
            <a:endParaRPr lang="en-US" sz="1500" dirty="0"/>
          </a:p>
        </p:txBody>
      </p:sp>
      <p:sp>
        <p:nvSpPr>
          <p:cNvPr id="20" name="Text 11"/>
          <p:cNvSpPr/>
          <p:nvPr/>
        </p:nvSpPr>
        <p:spPr>
          <a:xfrm>
            <a:off x="7452360" y="500176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FastTree is unrooted; re-rooting on BlaZ removes a display artifact (false CTX-M–BlaZ pairing)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3291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11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— antimicrobial resistance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48640" y="1417320"/>
            <a:ext cx="3749040" cy="3977640"/>
          </a:xfrm>
          <a:prstGeom prst="roundRect">
            <a:avLst>
              <a:gd name="adj" fmla="val 2195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22860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000" dirty="0"/>
          </a:p>
        </p:txBody>
      </p:sp>
      <p:sp>
        <p:nvSpPr>
          <p:cNvPr id="9" name="Text 4"/>
          <p:cNvSpPr/>
          <p:nvPr/>
        </p:nvSpPr>
        <p:spPr>
          <a:xfrm>
            <a:off x="54864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amino-acid change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777240" y="38404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convert a narrow-spectrum β-lactamase into an extended-spectrum ESBL (the SHV-1 → SHV-2 step seen in our own tree)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526280" y="1508760"/>
            <a:ext cx="71323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78308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94960" y="16733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widespread plasmid β-lactamase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394960" y="20574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Gram-negative bacteria; resistance to ampicillin/amoxicillin &amp; early cephalosporins.</a:t>
            </a:r>
            <a:endParaRPr lang="en-US" sz="1280" dirty="0"/>
          </a:p>
        </p:txBody>
      </p:sp>
      <p:sp>
        <p:nvSpPr>
          <p:cNvPr id="15" name="Shape 9"/>
          <p:cNvSpPr/>
          <p:nvPr/>
        </p:nvSpPr>
        <p:spPr>
          <a:xfrm>
            <a:off x="4526280" y="2880360"/>
            <a:ext cx="71323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15468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94960" y="30449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Evolvable scaffold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5394960" y="34290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mutations yield ESBLs (TEM-3, -10…) defeating 3rd-gen cephalosporins, and inhibitor-resistant (IRT) variants.</a:t>
            </a:r>
            <a:endParaRPr lang="en-US" sz="1280" dirty="0"/>
          </a:p>
        </p:txBody>
      </p:sp>
      <p:sp>
        <p:nvSpPr>
          <p:cNvPr id="19" name="Shape 12"/>
          <p:cNvSpPr/>
          <p:nvPr/>
        </p:nvSpPr>
        <p:spPr>
          <a:xfrm>
            <a:off x="4526280" y="4251960"/>
            <a:ext cx="71323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52628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44165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— global spread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5394960" y="48006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plasmid/transposon-borne; a central driver of the AMR crisis and a model system for inhibitor design.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3291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11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Galaxy workflow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48640" y="228600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12424E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25420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0080" y="3035808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multi-FASTA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(query + homologs)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 rot="5400000">
            <a:off x="2647188" y="2953512"/>
            <a:ext cx="219456" cy="219456"/>
          </a:xfrm>
          <a:prstGeom prst="rtTriangle">
            <a:avLst/>
          </a:prstGeom>
          <a:solidFill>
            <a:srgbClr val="5B6B70"/>
          </a:solidFill>
          <a:ln/>
        </p:spPr>
      </p:sp>
      <p:sp>
        <p:nvSpPr>
          <p:cNvPr id="10" name="Shape 6"/>
          <p:cNvSpPr/>
          <p:nvPr/>
        </p:nvSpPr>
        <p:spPr>
          <a:xfrm>
            <a:off x="2889504" y="228600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889504" y="25420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blastp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980944" y="3035808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BLAST+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tabular hits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 rot="5400000">
            <a:off x="4988052" y="2953512"/>
            <a:ext cx="219456" cy="219456"/>
          </a:xfrm>
          <a:prstGeom prst="rtTriangle">
            <a:avLst/>
          </a:prstGeom>
          <a:solidFill>
            <a:srgbClr val="5B6B70"/>
          </a:solidFill>
          <a:ln/>
        </p:spPr>
      </p:sp>
      <p:sp>
        <p:nvSpPr>
          <p:cNvPr id="14" name="Shape 10"/>
          <p:cNvSpPr/>
          <p:nvPr/>
        </p:nvSpPr>
        <p:spPr>
          <a:xfrm>
            <a:off x="5230368" y="228600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230368" y="25420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MAFFT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321808" y="3035808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sequence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 rot="5400000">
            <a:off x="7328916" y="2953512"/>
            <a:ext cx="219456" cy="219456"/>
          </a:xfrm>
          <a:prstGeom prst="rtTriangle">
            <a:avLst/>
          </a:prstGeom>
          <a:solidFill>
            <a:srgbClr val="5B6B70"/>
          </a:solidFill>
          <a:ln/>
        </p:spPr>
      </p:sp>
      <p:sp>
        <p:nvSpPr>
          <p:cNvPr id="18" name="Shape 14"/>
          <p:cNvSpPr/>
          <p:nvPr/>
        </p:nvSpPr>
        <p:spPr>
          <a:xfrm>
            <a:off x="7571232" y="228600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571232" y="25420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FastTree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662672" y="3035808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 supports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 rot="5400000">
            <a:off x="9669780" y="2953512"/>
            <a:ext cx="219456" cy="219456"/>
          </a:xfrm>
          <a:prstGeom prst="rtTriangle">
            <a:avLst/>
          </a:prstGeom>
          <a:solidFill>
            <a:srgbClr val="5B6B70"/>
          </a:solidFill>
          <a:ln/>
        </p:spPr>
      </p:sp>
      <p:sp>
        <p:nvSpPr>
          <p:cNvPr id="22" name="Shape 18"/>
          <p:cNvSpPr/>
          <p:nvPr/>
        </p:nvSpPr>
        <p:spPr>
          <a:xfrm>
            <a:off x="9912096" y="228600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13A89E"/>
          </a:solidFill>
          <a:ln/>
          <a:effectLst>
            <a:outerShdw sx="100000" sy="100000" kx="0" ky="0" algn="bl" rotWithShape="0" blurRad="114300" dist="38100" dir="5400000">
              <a:srgbClr val="0E2A33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912096" y="25420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Newick Display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0003536" y="3035808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+ MSA + phylogeny in one chained, shareable pipeline.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280160" y="4572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exported as .ga and committed to GitHub with the report, multi-FASTA, alignment and Newick tree — fully reproducible.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840480"/>
            <a:ext cx="4754880" cy="4754880"/>
          </a:xfrm>
          <a:prstGeom prst="ellipse">
            <a:avLst/>
          </a:prstGeom>
          <a:solidFill>
            <a:srgbClr val="1242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closed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B = TEM-1 β-lactamase  ·  E. coli  ·  UniProt P62593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1401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377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</a:t>
            </a:r>
            <a:pPr indent="0" marL="0">
              <a:buNone/>
            </a:pPr>
            <a:r>
              <a:rPr lang="en-US" sz="14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match to TEM-1; class A serine β-lactamase signatures (S-x-x-K, SDN, K-[S/T]-G).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55264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32186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 </a:t>
            </a:r>
            <a:pPr indent="0" marL="0">
              <a:buNone/>
            </a:pPr>
            <a:r>
              <a:rPr lang="en-US" sz="14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across many genera + 48 invariant MSA columns — a mobile, strongly conserved resistance gene.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96512"/>
            <a:ext cx="329184" cy="329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405993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 </a:t>
            </a:r>
            <a:pPr indent="0" marL="0">
              <a:buNone/>
            </a:pPr>
            <a:r>
              <a:rPr lang="en-US" sz="14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phylogeny shows ESBL emergence by single substitutions (SHV-1 → SHV-2).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937760"/>
            <a:ext cx="329184" cy="3291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3000" y="490118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 </a:t>
            </a:r>
            <a:pPr indent="0" marL="0">
              <a:buNone/>
            </a:pPr>
            <a:r>
              <a:rPr lang="en-US" sz="14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flagship driver of antimicrobial resistance and a model for β-lactamase mechanism &amp; inhibitors.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4008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Bioinformatic Detective — Sequence B</dc:title>
  <dc:subject>PptxGenJS Presentation</dc:subject>
  <dc:creator>Côme</dc:creator>
  <cp:lastModifiedBy>Côme</cp:lastModifiedBy>
  <cp:revision>1</cp:revision>
  <dcterms:created xsi:type="dcterms:W3CDTF">2026-06-25T20:59:24Z</dcterms:created>
  <dcterms:modified xsi:type="dcterms:W3CDTF">2026-06-25T20:59:24Z</dcterms:modified>
</cp:coreProperties>
</file>